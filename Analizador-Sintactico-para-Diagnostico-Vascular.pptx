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0"/>
      <p:bold r:id="rId11"/>
      <p:italic r:id="rId12"/>
      <p:boldItalic r:id="rId13"/>
    </p:embeddedFont>
    <p:embeddedFont>
      <p:font typeface="Nunito SemiBold" pitchFamily="2" charset="0"/>
      <p:regular r:id="rId14"/>
      <p:bold r:id="rId15"/>
    </p:embeddedFont>
    <p:embeddedFont>
      <p:font typeface="PT Sans" panose="020B0503020203020204" pitchFamily="34" charset="0"/>
      <p:regular r:id="rId16"/>
      <p:bold r:id="rId17"/>
      <p:italic r:id="rId18"/>
      <p:boldItalic r:id="rId19"/>
    </p:embeddedFont>
    <p:embeddedFont>
      <p:font typeface="PT Sans Bold" panose="020B0703020203020204" charset="0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ción predeterminada" id="{E385009B-3FFD-4DC6-9762-8F4BE269A6C3}">
          <p14:sldIdLst>
            <p14:sldId id="256"/>
            <p14:sldId id="257"/>
            <p14:sldId id="258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476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F3F3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86" y="112142"/>
            <a:ext cx="3279428" cy="491914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52577" y="143574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Analizador Sintáctico para Diagnóstico Vascular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3952577" y="254012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Implementación de un parser basado en Sistemas de Lindenmayer para identificar patologías morfológicas en redes vasculares mediante detección de errores gramaticales.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3952577" y="3426544"/>
            <a:ext cx="2665884" cy="281136"/>
          </a:xfrm>
          <a:prstGeom prst="roundRect">
            <a:avLst>
              <a:gd name="adj" fmla="val 63861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4042321" y="3471416"/>
            <a:ext cx="2943597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UNNE · TEORÍA DE LA COMPUTACIÓN · 4TO AÑO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1"/>
          <p:cNvSpPr/>
          <p:nvPr/>
        </p:nvSpPr>
        <p:spPr>
          <a:xfrm>
            <a:off x="523577" y="566068"/>
            <a:ext cx="4667845" cy="8249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SART-V: Del Lenguaje Formal al Diagnóstico Médico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523577" y="1588219"/>
            <a:ext cx="4667845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 redes vasculares y el árbol bronquial humano exhiben crecimiento fractal. El proyecto propone usar un parser no solo para renderizar, sino como </a:t>
            </a:r>
            <a:r>
              <a:rPr lang="en-US" sz="11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autómata de diagnóstico</a:t>
            </a: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: al traducir imágenes médicas a secuencias de texto, se evalúa si la anatomía cumple las reglas de una red biológica "sana“ o “patológica”.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577" y="2605534"/>
            <a:ext cx="2268141" cy="1028849"/>
          </a:xfrm>
          <a:prstGeom prst="roundRect">
            <a:avLst>
              <a:gd name="adj" fmla="val 20449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78061" y="2760018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Token V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8061" y="3045172"/>
            <a:ext cx="1959173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Tejido sano — crecimiento ordenado y simétrico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923208" y="2605534"/>
            <a:ext cx="2268215" cy="1028849"/>
          </a:xfrm>
          <a:prstGeom prst="roundRect">
            <a:avLst>
              <a:gd name="adj" fmla="val 20449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077691" y="2760018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Token 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77691" y="3045172"/>
            <a:ext cx="1959248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Tejido patológico — angiogénesis tumoral asimétrica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577" y="3765872"/>
            <a:ext cx="4667845" cy="811485"/>
          </a:xfrm>
          <a:prstGeom prst="roundRect">
            <a:avLst>
              <a:gd name="adj" fmla="val 25927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78061" y="3920356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Rechazo del Parser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8061" y="4205511"/>
            <a:ext cx="4358878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</a:rPr>
              <a:t>No respeta la gramatica</a:t>
            </a:r>
            <a:endParaRPr lang="en-US" sz="11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514B4F9F-CC87-D3D0-6D56-D70BE38B3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157" y="599801"/>
            <a:ext cx="3673998" cy="40114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48121"/>
            <a:ext cx="4321671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Alfabeto y Gramática BNF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3577" y="1171575"/>
            <a:ext cx="20797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Alfabeto del Sistema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23577" y="1517452"/>
            <a:ext cx="3880172" cy="3034903"/>
          </a:xfrm>
          <a:prstGeom prst="roundRect">
            <a:avLst>
              <a:gd name="adj" fmla="val 6817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66229" y="1603251"/>
            <a:ext cx="95317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Símbolo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442740" y="1603251"/>
            <a:ext cx="172491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Acción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990999" y="1603251"/>
            <a:ext cx="172729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Significado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66229" y="1982019"/>
            <a:ext cx="95317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442740" y="1982019"/>
            <a:ext cx="172491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Avanza dibujando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990999" y="1982019"/>
            <a:ext cx="172729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Tejido formado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6229" y="2360786"/>
            <a:ext cx="95317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442740" y="2360786"/>
            <a:ext cx="172491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Variable sana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90999" y="2360786"/>
            <a:ext cx="172729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Célula normal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66229" y="2739554"/>
            <a:ext cx="95317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1442740" y="2739554"/>
            <a:ext cx="172491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Variable cancerígena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90999" y="2739554"/>
            <a:ext cx="172729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Célula patológica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66229" y="3118321"/>
            <a:ext cx="95317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+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42740" y="3118321"/>
            <a:ext cx="172491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Gira derecha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990999" y="3118321"/>
            <a:ext cx="172729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Bifurcación derecha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6229" y="3497089"/>
            <a:ext cx="95317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-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442740" y="3497089"/>
            <a:ext cx="172491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Gira izquierda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990999" y="3497089"/>
            <a:ext cx="172729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Bifurcación izquierda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6229" y="3875856"/>
            <a:ext cx="95317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442740" y="3875856"/>
            <a:ext cx="172491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PUSH posición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990999" y="3875856"/>
            <a:ext cx="172729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Inicio de rama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6229" y="4254624"/>
            <a:ext cx="953170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]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1442740" y="4254624"/>
            <a:ext cx="1724918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POP posición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990999" y="4254624"/>
            <a:ext cx="1727299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Fin de rama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45013" y="1171575"/>
            <a:ext cx="2079799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Producciones BNF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745013" y="1517452"/>
            <a:ext cx="3880172" cy="1547366"/>
          </a:xfrm>
          <a:prstGeom prst="roundRect">
            <a:avLst>
              <a:gd name="adj" fmla="val 13370"/>
            </a:avLst>
          </a:prstGeom>
          <a:solidFill>
            <a:srgbClr val="E6E6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1" name="Shape 29"/>
          <p:cNvSpPr/>
          <p:nvPr/>
        </p:nvSpPr>
        <p:spPr>
          <a:xfrm>
            <a:off x="4738167" y="1517452"/>
            <a:ext cx="3893865" cy="1547366"/>
          </a:xfrm>
          <a:prstGeom prst="roundRect">
            <a:avLst>
              <a:gd name="adj" fmla="val 1337"/>
            </a:avLst>
          </a:prstGeom>
          <a:solidFill>
            <a:srgbClr val="E6E6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30"/>
          <p:cNvSpPr/>
          <p:nvPr/>
        </p:nvSpPr>
        <p:spPr>
          <a:xfrm>
            <a:off x="4910510" y="1655341"/>
            <a:ext cx="3549179" cy="127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&lt;vaso&gt; ::= &lt;tronco&gt; "[" &lt;rama&gt; "]" "[" &lt;rama&gt; "]"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&lt;tronco&gt; ::= "F" "F" "F"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&lt;rama&gt; ::= &lt;giro&gt; "F" &lt;tejido&gt;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| &lt;giro&gt; "F" &lt;tejido&gt; "[" &lt;rama&gt; "]" "[" &lt;rama&gt; "]"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&lt;giro&gt; ::= "+" | "-"</a:t>
            </a:r>
            <a:endParaRPr lang="en-US" sz="1050" dirty="0"/>
          </a:p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&lt;tejido&gt; ::= "V" | "C"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45013" y="3207841"/>
            <a:ext cx="3880172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 regla </a:t>
            </a:r>
            <a:r>
              <a:rPr lang="en-US" sz="10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&lt;rama&gt;</a:t>
            </a: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es recursiva: permite bifurcaciones binarias de profundidad indeterminada. El parser rechaza cadenas con trifurcaciones o más de dos ramas en un mismo punto.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8179"/>
            <a:ext cx="5059710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Palabra Aceptada y Derivación</a:t>
            </a:r>
            <a:endParaRPr lang="en-US" sz="2550" dirty="0"/>
          </a:p>
        </p:txBody>
      </p:sp>
      <p:sp>
        <p:nvSpPr>
          <p:cNvPr id="3" name="Shape 1"/>
          <p:cNvSpPr/>
          <p:nvPr/>
        </p:nvSpPr>
        <p:spPr>
          <a:xfrm>
            <a:off x="523577" y="1103635"/>
            <a:ext cx="8096845" cy="497756"/>
          </a:xfrm>
          <a:prstGeom prst="roundRect">
            <a:avLst>
              <a:gd name="adj" fmla="val 42268"/>
            </a:avLst>
          </a:prstGeom>
          <a:solidFill>
            <a:srgbClr val="E6E6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516582" y="1103635"/>
            <a:ext cx="8110835" cy="497756"/>
          </a:xfrm>
          <a:prstGeom prst="roundRect">
            <a:avLst>
              <a:gd name="adj" fmla="val 4227"/>
            </a:avLst>
          </a:prstGeom>
          <a:solidFill>
            <a:srgbClr val="E6E6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/>
          <p:nvPr/>
        </p:nvSpPr>
        <p:spPr>
          <a:xfrm>
            <a:off x="691902" y="1243831"/>
            <a:ext cx="8217396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FFF[+FV[+FV][-FV]][-FC[-FC][+FC]]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23577" y="1749251"/>
            <a:ext cx="8096845" cy="1779761"/>
          </a:xfrm>
          <a:prstGeom prst="roundRect">
            <a:avLst>
              <a:gd name="adj" fmla="val 11821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668536" y="1837655"/>
            <a:ext cx="2603004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Segmento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94732" y="1837655"/>
            <a:ext cx="30073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Producción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25294" y="1837655"/>
            <a:ext cx="30073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68536" y="2227064"/>
            <a:ext cx="2603004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FFF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094732" y="2227064"/>
            <a:ext cx="30073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Tronco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25294" y="2227064"/>
            <a:ext cx="30073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3 segmentos base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8536" y="2616473"/>
            <a:ext cx="2603004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[+FV[+FV][-FV]]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094732" y="2616473"/>
            <a:ext cx="30073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Rama derecha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25294" y="2616473"/>
            <a:ext cx="30073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Tejido sano con sub-bifurcaciones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8536" y="3005882"/>
            <a:ext cx="2603004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[-FC[-FC][+FC]]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94732" y="3005882"/>
            <a:ext cx="3007370" cy="217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Rama izquierda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25294" y="3005882"/>
            <a:ext cx="2550170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Tejido patológico (mutación C) y angiogénesis</a:t>
            </a:r>
            <a:endParaRPr lang="en-US" sz="110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577" y="3676873"/>
            <a:ext cx="3982641" cy="103837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759023" y="383611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Color Verde (V)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59023" y="4121274"/>
            <a:ext cx="3587948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Crecimiento ordenado y simétrico — proliferación celular controlada</a:t>
            </a:r>
            <a:endParaRPr lang="en-US" sz="11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7708" y="3676873"/>
            <a:ext cx="3982715" cy="103837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4873154" y="3836119"/>
            <a:ext cx="1650132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Color Rojo (C)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4873154" y="4121274"/>
            <a:ext cx="3588023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Crecimiento asimétrico y desordenado — angiogénesis tumoral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0291"/>
            <a:ext cx="7844210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Mecanismo Push/Pop y Árbol Sintáctico (AST)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34232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Flujo de Ejecución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23577" y="1622450"/>
            <a:ext cx="3865959" cy="2932435"/>
          </a:xfrm>
          <a:prstGeom prst="roundRect">
            <a:avLst>
              <a:gd name="adj" fmla="val 7653"/>
            </a:avLst>
          </a:prstGeom>
          <a:solidFill>
            <a:srgbClr val="E6E6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516136" y="1622450"/>
            <a:ext cx="3880842" cy="2932435"/>
          </a:xfrm>
          <a:prstGeom prst="roundRect">
            <a:avLst>
              <a:gd name="adj" fmla="val 765"/>
            </a:avLst>
          </a:prstGeom>
          <a:solidFill>
            <a:srgbClr val="E6E6F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/>
          <p:nvPr/>
        </p:nvSpPr>
        <p:spPr>
          <a:xfrm>
            <a:off x="703138" y="1772022"/>
            <a:ext cx="3506837" cy="2633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 F F → Dibuja tronco. Pos. = punto X.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      → PUSH: guarda punto X.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+ F V → Rama sana principal.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 + F V] → Sub-rama sana derecha.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[- F V] → Sub-rama sana izquierda.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      → POP: vuelve al punto X.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      → PUSH: guarda punto X.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 F C → Rama cancerígena principal.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[- F C] → Sub-rama cancerígena izq.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[ + F C] → Sub-rama cancerígena der.</a:t>
            </a:r>
            <a:endParaRPr lang="en-US" sz="11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E36209"/>
                </a:solidFill>
                <a:highlight>
                  <a:srgbClr val="E6E6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]      → POP: vuelve al punto X.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4759226" y="1234232"/>
            <a:ext cx="257137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Árbol Sintáctico Abstracto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61905" y="1498778"/>
            <a:ext cx="3865959" cy="1028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El parser construye el AST desde el axioma raíz hacia los nodos terminales. La recursividad resuelve ramificaciones de profundidad indeterminada; los operadores de pila garantizan sub-bifurcaciones preservando el punto de origen.</a:t>
            </a:r>
            <a:endParaRPr lang="en-US" sz="1150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31C31C1-9853-81CD-1770-F1057E52718A}"/>
              </a:ext>
            </a:extLst>
          </p:cNvPr>
          <p:cNvSpPr txBox="1"/>
          <p:nvPr/>
        </p:nvSpPr>
        <p:spPr>
          <a:xfrm>
            <a:off x="4693588" y="2414996"/>
            <a:ext cx="4140925" cy="3100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50" b="1" dirty="0">
                <a:latin typeface="PT Sans" panose="020B0503020203020204" pitchFamily="34" charset="0"/>
              </a:rPr>
              <a:t>Representación Gráfica del AST</a:t>
            </a:r>
          </a:p>
          <a:p>
            <a:r>
              <a:rPr lang="es-ES" sz="1150" dirty="0">
                <a:latin typeface="PT Sans" panose="020B0503020203020204" pitchFamily="34" charset="0"/>
              </a:rPr>
              <a:t>Vaso</a:t>
            </a:r>
          </a:p>
          <a:p>
            <a:r>
              <a:rPr lang="es-ES" sz="1150" dirty="0">
                <a:latin typeface="PT Sans" panose="020B0503020203020204" pitchFamily="34" charset="0"/>
              </a:rPr>
              <a:t>├── tronco: Tronco (FFF)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├── rama_1: Rama [+FV]  (bifurcación)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│   ├── tejido: Tejido V (sano)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│   ├── 1ra sub-rama: Rama [+FV]  (hoja)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│   │   └── tejido: Tejido V (sano)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│   └── 2da sub-rama: Rama [-FV]  (hoja)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│       └── tejido: Tejido V (sano)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└── rama_2: Rama [-FC]  (bifurcación)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    ├── tejido: Tejido C (patológico)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    ├── 1ra sub-rama: Rama [-FC]  (hoja)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    │   └── tejido: Tejido C (patológico)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    └── 2da sub-rama: Rama [+FC]  (hoja)</a:t>
            </a:r>
          </a:p>
          <a:p>
            <a:r>
              <a:rPr lang="es-ES" sz="1150" dirty="0">
                <a:latin typeface="PT Sans" panose="020B0503020203020204" pitchFamily="34" charset="0"/>
              </a:rPr>
              <a:t>        └── tejido: Tejido C (patológico)</a:t>
            </a:r>
          </a:p>
          <a:p>
            <a:br>
              <a:rPr lang="es-ES" sz="1150" dirty="0"/>
            </a:br>
            <a:endParaRPr lang="es-E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194495"/>
            <a:ext cx="3977506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Casos de Prueba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008436"/>
            <a:ext cx="2478732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✅</a:t>
            </a: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Casos Aceptados (10)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23577" y="2377976"/>
            <a:ext cx="3865959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Desde vasos mínimos con ramas sanas (V01) hasta anidamiento profundo de profundidad 3 simulando angiogénesis tumoral extendida (V07). Incluyen validación de mezcla V/C, giros invertidos, bifurcaciones recursivas asimétricas y manejo correcto de espacios en blanco y saltos de línea (V08–V09).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759226" y="2008436"/>
            <a:ext cx="257881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❌</a:t>
            </a: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 Casos Rechazados (10)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759226" y="2377976"/>
            <a:ext cx="386595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Errores detectados: tronco incompleto o con segmento extra (I01–I02), ramas faltantes o en exceso (I03–I04), corchetes desbalanceados (I05, I10), tokens inválidos fuera del alfabeto Σ como 'X' o '*' (I06–I07), texto sobrante tras cadena válida (I08) y ausencia del tronco 'FFF' (I09).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F3F3F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2791" y="101650"/>
            <a:ext cx="3293418" cy="494012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577" y="426988"/>
            <a:ext cx="3647405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Conclusión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23577" y="1009948"/>
            <a:ext cx="4667845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Se ratifica la factibilidad de transponer los L-Systems al diagnóstico clínico computarizado. La transición a una </a:t>
            </a:r>
            <a:r>
              <a:rPr lang="en-US" sz="10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Gramática Libre de Contexto</a:t>
            </a: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y un </a:t>
            </a:r>
            <a:r>
              <a:rPr lang="en-US" sz="10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Parser Descendente LL(1)</a:t>
            </a: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permitió procesar la geometría fractal vascular de forma secuencial y determinista.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23577" y="1975024"/>
            <a:ext cx="2272457" cy="986284"/>
          </a:xfrm>
          <a:prstGeom prst="roundRect">
            <a:avLst>
              <a:gd name="adj" fmla="val 20621"/>
            </a:avLst>
          </a:prstGeom>
          <a:solidFill>
            <a:srgbClr val="F3F3FF"/>
          </a:solidFill>
          <a:ln w="14288">
            <a:solidFill>
              <a:srgbClr val="2D4DF2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Text 4"/>
          <p:cNvSpPr/>
          <p:nvPr/>
        </p:nvSpPr>
        <p:spPr>
          <a:xfrm>
            <a:off x="673447" y="212489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Recursividad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73447" y="2397993"/>
            <a:ext cx="1972717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Ramificaciones binarias de profundidad indeterminada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918892" y="1975024"/>
            <a:ext cx="2272531" cy="986284"/>
          </a:xfrm>
          <a:prstGeom prst="roundRect">
            <a:avLst>
              <a:gd name="adj" fmla="val 20621"/>
            </a:avLst>
          </a:prstGeom>
          <a:solidFill>
            <a:srgbClr val="F3F3FF"/>
          </a:solidFill>
          <a:ln w="14288">
            <a:solidFill>
              <a:srgbClr val="018CE1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/>
          <p:nvPr/>
        </p:nvSpPr>
        <p:spPr>
          <a:xfrm>
            <a:off x="3068762" y="2124894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Pila Push/Pop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068762" y="2397993"/>
            <a:ext cx="1972791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Sub-bifurcaciones preservando el punto de origen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23577" y="3084165"/>
            <a:ext cx="4667845" cy="779562"/>
          </a:xfrm>
          <a:prstGeom prst="roundRect">
            <a:avLst>
              <a:gd name="adj" fmla="val 26089"/>
            </a:avLst>
          </a:prstGeom>
          <a:solidFill>
            <a:srgbClr val="F3F3FF"/>
          </a:solidFill>
          <a:ln w="14288">
            <a:solidFill>
              <a:srgbClr val="DA33B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/>
          <p:nvPr/>
        </p:nvSpPr>
        <p:spPr>
          <a:xfrm>
            <a:off x="673447" y="3234035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Lexer Independiente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3447" y="3507135"/>
            <a:ext cx="4368105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Espacios y saltos de línea procesados fuera del parser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23577" y="4001914"/>
            <a:ext cx="4667845" cy="714598"/>
          </a:xfrm>
          <a:prstGeom prst="roundRect">
            <a:avLst>
              <a:gd name="adj" fmla="val 28461"/>
            </a:avLst>
          </a:prstGeom>
          <a:solidFill>
            <a:srgbClr val="CFD6FC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60" y="4190777"/>
            <a:ext cx="169441" cy="13558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64183" y="4158630"/>
            <a:ext cx="4091657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Las gramáticas formales y la teoría de compiladores son herramientas eficaces para diagnosticar estructuras biológicas complejas.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884</Words>
  <Application>Microsoft Office PowerPoint</Application>
  <PresentationFormat>Presentación en pantalla (16:9)</PresentationFormat>
  <Paragraphs>115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Nunito SemiBold</vt:lpstr>
      <vt:lpstr>PT Sans Bold</vt:lpstr>
      <vt:lpstr>PT Sans</vt:lpstr>
      <vt:lpstr>Consolas</vt:lpstr>
      <vt:lpstr>Arial</vt:lpstr>
      <vt:lpstr>Twemoji Mozilla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Fracusco</cp:lastModifiedBy>
  <cp:revision>2</cp:revision>
  <dcterms:created xsi:type="dcterms:W3CDTF">2026-06-26T01:01:41Z</dcterms:created>
  <dcterms:modified xsi:type="dcterms:W3CDTF">2026-06-26T18:03:29Z</dcterms:modified>
</cp:coreProperties>
</file>